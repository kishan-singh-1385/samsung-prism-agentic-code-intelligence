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2192000" cy="6858000"/>
  <p:notesSz cx="6858000" cy="12192000"/>
  <p:embeddedFontLst>
    <p:embeddedFont>
      <p:font typeface="Consolas" panose="020B0609020204030204" pitchFamily="49" charset="0"/>
      <p:regular r:id="rId12"/>
      <p:bold r:id="rId13"/>
      <p:italic r:id="rId14"/>
      <p:boldItalic r:id="rId15"/>
    </p:embeddedFont>
    <p:embeddedFont>
      <p:font typeface="Raleway" pitchFamily="2" charset="0"/>
      <p:regular r:id="rId16"/>
    </p:embeddedFont>
    <p:embeddedFont>
      <p:font typeface="Roboto" panose="02000000000000000000" pitchFamily="2" charset="0"/>
      <p:regular r:id="rId17"/>
    </p:embeddedFont>
    <p:embeddedFont>
      <p:font typeface="Roboto Bold" panose="020B0604020202020204" charset="0"/>
      <p:regular r:id="rId18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82" d="100"/>
          <a:sy n="82" d="100"/>
        </p:scale>
        <p:origin x="691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2.fntdata"/><Relationship Id="rId18" Type="http://schemas.openxmlformats.org/officeDocument/2006/relationships/font" Target="fonts/font7.fntdata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font" Target="fonts/font1.fntdata"/><Relationship Id="rId17" Type="http://schemas.openxmlformats.org/officeDocument/2006/relationships/font" Target="fonts/font6.fntdata"/><Relationship Id="rId2" Type="http://schemas.openxmlformats.org/officeDocument/2006/relationships/slide" Target="slides/slide1.xml"/><Relationship Id="rId16" Type="http://schemas.openxmlformats.org/officeDocument/2006/relationships/font" Target="fonts/font5.fntdata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font" Target="fonts/font4.fntdata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3.fntdata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85259198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CECF3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  <p:txBody>
          <a:bodyPr/>
          <a:lstStyle/>
          <a:p>
            <a:endParaRPr lang="en-IN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sv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sv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619809" y="0"/>
            <a:ext cx="4571886" cy="6858000"/>
          </a:xfrm>
          <a:prstGeom prst="rect">
            <a:avLst/>
          </a:prstGeom>
          <a:solidFill>
            <a:srgbClr val="E1E1EA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14263" y="506909"/>
            <a:ext cx="4382879" cy="584408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61475" y="2295525"/>
            <a:ext cx="6296860" cy="118129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7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AGENTIC CODE  INTELLIGENCE</a:t>
            </a:r>
            <a:endParaRPr lang="en-US" sz="3700" dirty="0"/>
          </a:p>
        </p:txBody>
      </p:sp>
      <p:sp>
        <p:nvSpPr>
          <p:cNvPr id="5" name="Text 2"/>
          <p:cNvSpPr/>
          <p:nvPr/>
        </p:nvSpPr>
        <p:spPr>
          <a:xfrm>
            <a:off x="661475" y="3760291"/>
            <a:ext cx="6906444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Semantic Retrieval of Relevant Code from Large Code Libraries</a:t>
            </a:r>
            <a:endParaRPr lang="en-US" sz="1450" dirty="0"/>
          </a:p>
        </p:txBody>
      </p:sp>
      <p:sp>
        <p:nvSpPr>
          <p:cNvPr id="6" name="Shape 3"/>
          <p:cNvSpPr/>
          <p:nvPr/>
        </p:nvSpPr>
        <p:spPr>
          <a:xfrm>
            <a:off x="661475" y="4275336"/>
            <a:ext cx="1811292" cy="287139"/>
          </a:xfrm>
          <a:prstGeom prst="roundRect">
            <a:avLst>
              <a:gd name="adj" fmla="val 22118"/>
            </a:avLst>
          </a:prstGeom>
          <a:solidFill>
            <a:srgbClr val="E1E1E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" name="Text 4"/>
          <p:cNvSpPr/>
          <p:nvPr/>
        </p:nvSpPr>
        <p:spPr>
          <a:xfrm>
            <a:off x="774879" y="4331990"/>
            <a:ext cx="2194069" cy="1738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11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SAMSUNG PRISM 2026</a:t>
            </a:r>
            <a:endParaRPr lang="en-US" sz="11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1475" y="1676797"/>
            <a:ext cx="3504219" cy="3504307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633201" y="1205210"/>
            <a:ext cx="6903269" cy="118129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7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From Natural Language to the Right Code</a:t>
            </a:r>
            <a:endParaRPr lang="en-US" sz="3700" dirty="0"/>
          </a:p>
        </p:txBody>
      </p:sp>
      <p:pic>
        <p:nvPicPr>
          <p:cNvPr id="4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633201" y="2599134"/>
            <a:ext cx="2175019" cy="3030041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4949205" y="2813546"/>
            <a:ext cx="1644609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Challenge</a:t>
            </a:r>
            <a:endParaRPr lang="en-US" sz="1850" dirty="0"/>
          </a:p>
        </p:txBody>
      </p:sp>
      <p:sp>
        <p:nvSpPr>
          <p:cNvPr id="6" name="Text 2"/>
          <p:cNvSpPr/>
          <p:nvPr/>
        </p:nvSpPr>
        <p:spPr>
          <a:xfrm>
            <a:off x="4949205" y="3297833"/>
            <a:ext cx="1644609" cy="211693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Given a natural-language query, retrieve relevant code from </a:t>
            </a:r>
            <a:r>
              <a:rPr lang="en-US" sz="1450" b="1" dirty="0">
                <a:solidFill>
                  <a:srgbClr val="3C3939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8,765 snippets</a:t>
            </a: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without exhaustive LLM ranking.</a:t>
            </a:r>
            <a:endParaRPr lang="en-US" sz="1450" dirty="0"/>
          </a:p>
        </p:txBody>
      </p:sp>
      <p:pic>
        <p:nvPicPr>
          <p:cNvPr id="7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997227" y="2599134"/>
            <a:ext cx="2175118" cy="3030041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7313231" y="2813546"/>
            <a:ext cx="1644708" cy="5905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Example Query</a:t>
            </a:r>
            <a:endParaRPr lang="en-US" sz="1850" dirty="0"/>
          </a:p>
        </p:txBody>
      </p:sp>
      <p:sp>
        <p:nvSpPr>
          <p:cNvPr id="9" name="Text 4"/>
          <p:cNvSpPr/>
          <p:nvPr/>
        </p:nvSpPr>
        <p:spPr>
          <a:xfrm>
            <a:off x="7313231" y="3593108"/>
            <a:ext cx="1644708" cy="12096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i="1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"How is the input preprocessed before going to the main function?"</a:t>
            </a:r>
            <a:endParaRPr lang="en-US" sz="1450" dirty="0"/>
          </a:p>
        </p:txBody>
      </p:sp>
      <p:pic>
        <p:nvPicPr>
          <p:cNvPr id="10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361353" y="2599134"/>
            <a:ext cx="2175118" cy="3030041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9677356" y="2813546"/>
            <a:ext cx="1644708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Constraints</a:t>
            </a:r>
            <a:endParaRPr lang="en-US" sz="1850" dirty="0"/>
          </a:p>
        </p:txBody>
      </p:sp>
      <p:sp>
        <p:nvSpPr>
          <p:cNvPr id="12" name="Text 6"/>
          <p:cNvSpPr/>
          <p:nvPr/>
        </p:nvSpPr>
        <p:spPr>
          <a:xfrm>
            <a:off x="9677356" y="3297833"/>
            <a:ext cx="1644708" cy="211693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Snippets may be long; semantic relevance required; brute-force LLM ranking is computationally inefficient.</a:t>
            </a:r>
            <a:endParaRPr lang="en-US" sz="14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20105"/>
            <a:ext cx="10868745" cy="4799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0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CPU-Efficient Semantic Code Retrieval</a:t>
            </a:r>
            <a:endParaRPr lang="en-US" sz="30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69830" y="1249561"/>
            <a:ext cx="8452035" cy="3868341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8341606" y="4199293"/>
            <a:ext cx="1586817" cy="3056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9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Ranked Top-K</a:t>
            </a:r>
            <a:endParaRPr lang="en-US" sz="1900" dirty="0"/>
          </a:p>
        </p:txBody>
      </p:sp>
      <p:sp>
        <p:nvSpPr>
          <p:cNvPr id="5" name="Text 2"/>
          <p:cNvSpPr/>
          <p:nvPr/>
        </p:nvSpPr>
        <p:spPr>
          <a:xfrm>
            <a:off x="6341783" y="4046448"/>
            <a:ext cx="1586817" cy="6113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9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Cosine Similarity</a:t>
            </a:r>
            <a:endParaRPr lang="en-US" sz="1900" dirty="0"/>
          </a:p>
        </p:txBody>
      </p:sp>
      <p:sp>
        <p:nvSpPr>
          <p:cNvPr id="6" name="Text 3"/>
          <p:cNvSpPr/>
          <p:nvPr/>
        </p:nvSpPr>
        <p:spPr>
          <a:xfrm>
            <a:off x="4352827" y="4046448"/>
            <a:ext cx="1586817" cy="6113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9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MiniLM Encoder</a:t>
            </a:r>
            <a:endParaRPr lang="en-US" sz="1900" dirty="0"/>
          </a:p>
        </p:txBody>
      </p:sp>
      <p:sp>
        <p:nvSpPr>
          <p:cNvPr id="7" name="Text 4"/>
          <p:cNvSpPr/>
          <p:nvPr/>
        </p:nvSpPr>
        <p:spPr>
          <a:xfrm>
            <a:off x="2320397" y="4199293"/>
            <a:ext cx="1586817" cy="3056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9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Query Input</a:t>
            </a:r>
            <a:endParaRPr lang="en-US" sz="1900" dirty="0"/>
          </a:p>
        </p:txBody>
      </p:sp>
      <p:sp>
        <p:nvSpPr>
          <p:cNvPr id="8" name="Shape 5"/>
          <p:cNvSpPr/>
          <p:nvPr/>
        </p:nvSpPr>
        <p:spPr>
          <a:xfrm>
            <a:off x="661475" y="5258197"/>
            <a:ext cx="3539739" cy="1079698"/>
          </a:xfrm>
          <a:prstGeom prst="roundRect">
            <a:avLst>
              <a:gd name="adj" fmla="val 5974"/>
            </a:avLst>
          </a:prstGeom>
          <a:solidFill>
            <a:srgbClr val="E1E1EA"/>
          </a:solidFill>
          <a:ln w="6350">
            <a:solidFill>
              <a:srgbClr val="C7C7D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Text 6"/>
          <p:cNvSpPr/>
          <p:nvPr/>
        </p:nvSpPr>
        <p:spPr>
          <a:xfrm>
            <a:off x="821312" y="5418038"/>
            <a:ext cx="3220064" cy="2399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CPU-Compatible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821312" y="5732760"/>
            <a:ext cx="3220064" cy="44529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2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No GPU dependency — fully runnable on standard hardware.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4325928" y="5258197"/>
            <a:ext cx="3539739" cy="1079698"/>
          </a:xfrm>
          <a:prstGeom prst="roundRect">
            <a:avLst>
              <a:gd name="adj" fmla="val 5974"/>
            </a:avLst>
          </a:prstGeom>
          <a:solidFill>
            <a:srgbClr val="E1E1EA"/>
          </a:solidFill>
          <a:ln w="6350">
            <a:solidFill>
              <a:srgbClr val="C7C7D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" name="Text 9"/>
          <p:cNvSpPr/>
          <p:nvPr/>
        </p:nvSpPr>
        <p:spPr>
          <a:xfrm>
            <a:off x="4485766" y="5418038"/>
            <a:ext cx="3220064" cy="2399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Cached Embeddings</a:t>
            </a:r>
            <a:endParaRPr lang="en-US" sz="1500" dirty="0"/>
          </a:p>
        </p:txBody>
      </p:sp>
      <p:sp>
        <p:nvSpPr>
          <p:cNvPr id="13" name="Text 10"/>
          <p:cNvSpPr/>
          <p:nvPr/>
        </p:nvSpPr>
        <p:spPr>
          <a:xfrm>
            <a:off x="4485766" y="5732760"/>
            <a:ext cx="3220064" cy="44529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2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8,765 snippets pre-embedded and indexed at startup.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7990382" y="5258197"/>
            <a:ext cx="3539739" cy="1079698"/>
          </a:xfrm>
          <a:prstGeom prst="roundRect">
            <a:avLst>
              <a:gd name="adj" fmla="val 5974"/>
            </a:avLst>
          </a:prstGeom>
          <a:solidFill>
            <a:srgbClr val="E1E1EA"/>
          </a:solidFill>
          <a:ln w="6350">
            <a:solidFill>
              <a:srgbClr val="C7C7D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5" name="Text 12"/>
          <p:cNvSpPr/>
          <p:nvPr/>
        </p:nvSpPr>
        <p:spPr>
          <a:xfrm>
            <a:off x="8150220" y="5418038"/>
            <a:ext cx="3220064" cy="2399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Deterministic Ranking</a:t>
            </a:r>
            <a:endParaRPr lang="en-US" sz="1500" dirty="0"/>
          </a:p>
        </p:txBody>
      </p:sp>
      <p:sp>
        <p:nvSpPr>
          <p:cNvPr id="16" name="Text 13"/>
          <p:cNvSpPr/>
          <p:nvPr/>
        </p:nvSpPr>
        <p:spPr>
          <a:xfrm>
            <a:off x="8150220" y="5732760"/>
            <a:ext cx="3220064" cy="44529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2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Cosine similarity ensures reproducible, stable retrieval order.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619809" y="0"/>
            <a:ext cx="4571886" cy="6858000"/>
          </a:xfrm>
          <a:prstGeom prst="rect">
            <a:avLst/>
          </a:prstGeom>
          <a:solidFill>
            <a:srgbClr val="E1E1EA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14263" y="506909"/>
            <a:ext cx="4382879" cy="584408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61475" y="574179"/>
            <a:ext cx="6296860" cy="118129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7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Making Code Searchable by Meaning</a:t>
            </a:r>
            <a:endParaRPr lang="en-US" sz="3700" dirty="0"/>
          </a:p>
        </p:txBody>
      </p:sp>
      <p:sp>
        <p:nvSpPr>
          <p:cNvPr id="5" name="Text 2"/>
          <p:cNvSpPr/>
          <p:nvPr/>
        </p:nvSpPr>
        <p:spPr>
          <a:xfrm>
            <a:off x="661475" y="2227957"/>
            <a:ext cx="2917851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Representation Pipeline</a:t>
            </a:r>
            <a:endParaRPr lang="en-US" sz="1850" dirty="0"/>
          </a:p>
        </p:txBody>
      </p:sp>
      <p:sp>
        <p:nvSpPr>
          <p:cNvPr id="6" name="Text 3"/>
          <p:cNvSpPr/>
          <p:nvPr/>
        </p:nvSpPr>
        <p:spPr>
          <a:xfrm>
            <a:off x="661475" y="2712244"/>
            <a:ext cx="2917851" cy="907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Code snippet → Text representation → MiniLM embedding → Vector space</a:t>
            </a:r>
            <a:endParaRPr lang="en-US" sz="1450" dirty="0"/>
          </a:p>
        </p:txBody>
      </p:sp>
      <p:sp>
        <p:nvSpPr>
          <p:cNvPr id="7" name="Text 4"/>
          <p:cNvSpPr/>
          <p:nvPr/>
        </p:nvSpPr>
        <p:spPr>
          <a:xfrm>
            <a:off x="661475" y="3808512"/>
            <a:ext cx="2917851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Official Baseline</a:t>
            </a:r>
            <a:endParaRPr lang="en-US" sz="1850" dirty="0"/>
          </a:p>
        </p:txBody>
      </p:sp>
      <p:sp>
        <p:nvSpPr>
          <p:cNvPr id="8" name="Text 5"/>
          <p:cNvSpPr/>
          <p:nvPr/>
        </p:nvSpPr>
        <p:spPr>
          <a:xfrm>
            <a:off x="661475" y="4292798"/>
            <a:ext cx="2917851" cy="907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Title concatenated with raw code text, passed directly to the encoder.</a:t>
            </a:r>
            <a:endParaRPr lang="en-US" sz="1450" dirty="0"/>
          </a:p>
        </p:txBody>
      </p:sp>
      <p:sp>
        <p:nvSpPr>
          <p:cNvPr id="9" name="Text 6"/>
          <p:cNvSpPr/>
          <p:nvPr/>
        </p:nvSpPr>
        <p:spPr>
          <a:xfrm>
            <a:off x="4046833" y="2227957"/>
            <a:ext cx="2917851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Candidate Improvement</a:t>
            </a:r>
            <a:endParaRPr lang="en-US" sz="1850" dirty="0"/>
          </a:p>
        </p:txBody>
      </p:sp>
      <p:sp>
        <p:nvSpPr>
          <p:cNvPr id="10" name="Text 7"/>
          <p:cNvSpPr/>
          <p:nvPr/>
        </p:nvSpPr>
        <p:spPr>
          <a:xfrm>
            <a:off x="4046833" y="2712244"/>
            <a:ext cx="2917851" cy="15184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Prefix </a:t>
            </a:r>
            <a:r>
              <a:rPr lang="en-US" sz="1450" dirty="0">
                <a:solidFill>
                  <a:srgbClr val="3C3939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"python code:"</a:t>
            </a: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prepended to each snippet — provides explicit language context to the encoder without changing model weights or architecture.</a:t>
            </a:r>
            <a:endParaRPr lang="en-US" sz="1450" dirty="0"/>
          </a:p>
        </p:txBody>
      </p:sp>
      <p:sp>
        <p:nvSpPr>
          <p:cNvPr id="11" name="Text 8"/>
          <p:cNvSpPr/>
          <p:nvPr/>
        </p:nvSpPr>
        <p:spPr>
          <a:xfrm>
            <a:off x="4046833" y="4419699"/>
            <a:ext cx="2917851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Key Finding</a:t>
            </a:r>
            <a:endParaRPr lang="en-US" sz="1850" dirty="0"/>
          </a:p>
        </p:txBody>
      </p:sp>
      <p:sp>
        <p:nvSpPr>
          <p:cNvPr id="12" name="Text 9"/>
          <p:cNvSpPr/>
          <p:nvPr/>
        </p:nvSpPr>
        <p:spPr>
          <a:xfrm>
            <a:off x="4046833" y="4903986"/>
            <a:ext cx="2917851" cy="12096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This minimal prefix improves </a:t>
            </a:r>
            <a:r>
              <a:rPr lang="en-US" sz="1450" b="1" dirty="0">
                <a:solidFill>
                  <a:srgbClr val="3C3939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both NDCG@10 and MRR@10</a:t>
            </a: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over the official baseline with zero additional compute cost.</a:t>
            </a:r>
            <a:endParaRPr lang="en-US" sz="14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68226"/>
            <a:ext cx="10868745" cy="5630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5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We Tested Multiple Retrieval Strategies</a:t>
            </a:r>
            <a:endParaRPr lang="en-US" sz="35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1475" y="1582043"/>
            <a:ext cx="6345376" cy="4169569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452729" y="1560513"/>
            <a:ext cx="4083742" cy="2814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75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Strategy Comparison — NDCG@10</a:t>
            </a:r>
            <a:endParaRPr lang="en-US" sz="1750" dirty="0"/>
          </a:p>
        </p:txBody>
      </p:sp>
      <p:sp>
        <p:nvSpPr>
          <p:cNvPr id="5" name="Text 2"/>
          <p:cNvSpPr/>
          <p:nvPr/>
        </p:nvSpPr>
        <p:spPr>
          <a:xfrm>
            <a:off x="7452729" y="2013645"/>
            <a:ext cx="4083742" cy="56296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4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Five distinct retrieval strategies were evaluated on the AppsRetrieval test set.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7452729" y="2731095"/>
            <a:ext cx="4083742" cy="192901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284480" indent="-284480" algn="l">
              <a:lnSpc>
                <a:spcPct val="130000"/>
              </a:lnSpc>
              <a:buSzPct val="100000"/>
              <a:buChar char="•"/>
            </a:pPr>
            <a:r>
              <a:rPr lang="en-US" sz="1400" b="1" dirty="0">
                <a:solidFill>
                  <a:srgbClr val="3C3939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MiniLM baseline:</a:t>
            </a:r>
            <a:r>
              <a:rPr lang="en-US" sz="14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MRR@10 0.05581</a:t>
            </a:r>
            <a:endParaRPr lang="en-US" sz="1400" dirty="0"/>
          </a:p>
          <a:p>
            <a:pPr marL="284480" indent="-284480" algn="l">
              <a:lnSpc>
                <a:spcPct val="130000"/>
              </a:lnSpc>
              <a:buSzPct val="100000"/>
              <a:buChar char="•"/>
            </a:pPr>
            <a:r>
              <a:rPr lang="en-US" sz="1400" b="1" dirty="0">
                <a:solidFill>
                  <a:srgbClr val="3C3939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BM25:</a:t>
            </a:r>
            <a:r>
              <a:rPr lang="en-US" sz="14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MRR@10 0.01293 — sparse retrieval underperforms on code semantics</a:t>
            </a:r>
            <a:endParaRPr lang="en-US" sz="1400" dirty="0"/>
          </a:p>
          <a:p>
            <a:pPr marL="284480" indent="-284480" algn="l">
              <a:lnSpc>
                <a:spcPct val="130000"/>
              </a:lnSpc>
              <a:buSzPct val="100000"/>
              <a:buChar char="•"/>
            </a:pPr>
            <a:r>
              <a:rPr lang="en-US" sz="1400" b="1" dirty="0">
                <a:solidFill>
                  <a:srgbClr val="3C3939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RRF (200/60):</a:t>
            </a:r>
            <a:r>
              <a:rPr lang="en-US" sz="14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MRR@10 0.05499</a:t>
            </a:r>
            <a:endParaRPr lang="en-US" sz="1400" dirty="0"/>
          </a:p>
          <a:p>
            <a:pPr marL="284480" indent="-284480" algn="l">
              <a:lnSpc>
                <a:spcPct val="130000"/>
              </a:lnSpc>
              <a:buSzPct val="100000"/>
              <a:buChar char="•"/>
            </a:pPr>
            <a:r>
              <a:rPr lang="en-US" sz="1400" b="1" dirty="0">
                <a:solidFill>
                  <a:srgbClr val="3C3939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RRF (100/10):</a:t>
            </a:r>
            <a:r>
              <a:rPr lang="en-US" sz="14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MRR@10 0.05663</a:t>
            </a:r>
            <a:endParaRPr lang="en-US" sz="1400" dirty="0"/>
          </a:p>
          <a:p>
            <a:pPr marL="284480" indent="-284480" algn="l">
              <a:lnSpc>
                <a:spcPct val="130000"/>
              </a:lnSpc>
              <a:buSzPct val="100000"/>
              <a:buChar char="•"/>
            </a:pPr>
            <a:r>
              <a:rPr lang="en-US" sz="1400" b="1" dirty="0">
                <a:solidFill>
                  <a:srgbClr val="3C3939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Diagnostic reranker:</a:t>
            </a:r>
            <a:r>
              <a:rPr lang="en-US" sz="14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MRR@10 0.04774</a:t>
            </a: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7452729" y="4853285"/>
            <a:ext cx="4083742" cy="1243310"/>
          </a:xfrm>
          <a:prstGeom prst="roundRect">
            <a:avLst>
              <a:gd name="adj" fmla="val 6086"/>
            </a:avLst>
          </a:prstGeom>
          <a:solidFill>
            <a:srgbClr val="E1E1EA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32807" y="5109071"/>
            <a:ext cx="225122" cy="180082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8038006" y="5052715"/>
            <a:ext cx="3318387" cy="8444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Dense embedding consistently outperforms sparse BM25 for semantic code retrieval.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666155"/>
            <a:ext cx="10868745" cy="5352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35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A Small Representation Change Improved Both Metrics</a:t>
            </a:r>
            <a:endParaRPr lang="en-US" sz="3350" dirty="0"/>
          </a:p>
        </p:txBody>
      </p:sp>
      <p:sp>
        <p:nvSpPr>
          <p:cNvPr id="3" name="Text 1"/>
          <p:cNvSpPr/>
          <p:nvPr/>
        </p:nvSpPr>
        <p:spPr>
          <a:xfrm>
            <a:off x="661475" y="1597521"/>
            <a:ext cx="5337339" cy="5652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83000"/>
              </a:lnSpc>
              <a:buNone/>
            </a:pPr>
            <a:r>
              <a:rPr lang="en-US" sz="44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+4.9%</a:t>
            </a:r>
            <a:endParaRPr lang="en-US" sz="4450" dirty="0"/>
          </a:p>
        </p:txBody>
      </p:sp>
      <p:sp>
        <p:nvSpPr>
          <p:cNvPr id="4" name="Text 2"/>
          <p:cNvSpPr/>
          <p:nvPr/>
        </p:nvSpPr>
        <p:spPr>
          <a:xfrm>
            <a:off x="661475" y="2364780"/>
            <a:ext cx="5337339" cy="2675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6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NDCG@10 Gain</a:t>
            </a:r>
            <a:endParaRPr lang="en-US" sz="1650" dirty="0"/>
          </a:p>
        </p:txBody>
      </p:sp>
      <p:sp>
        <p:nvSpPr>
          <p:cNvPr id="5" name="Text 3"/>
          <p:cNvSpPr/>
          <p:nvPr/>
        </p:nvSpPr>
        <p:spPr>
          <a:xfrm>
            <a:off x="661475" y="2725440"/>
            <a:ext cx="5337339" cy="27394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27000"/>
              </a:lnSpc>
              <a:buNone/>
            </a:pPr>
            <a:r>
              <a:rPr lang="en-US" sz="13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0.06596 → 0.06922 with </a:t>
            </a:r>
            <a:r>
              <a:rPr lang="en-US" sz="1300" dirty="0">
                <a:solidFill>
                  <a:srgbClr val="3C3939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"python code:"</a:t>
            </a:r>
            <a:r>
              <a:rPr lang="en-US" sz="13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prefix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6192782" y="1597521"/>
            <a:ext cx="5337438" cy="5652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83000"/>
              </a:lnSpc>
              <a:buNone/>
            </a:pPr>
            <a:r>
              <a:rPr lang="en-US" sz="44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+4.2%</a:t>
            </a:r>
            <a:endParaRPr lang="en-US" sz="4450" dirty="0"/>
          </a:p>
        </p:txBody>
      </p:sp>
      <p:sp>
        <p:nvSpPr>
          <p:cNvPr id="7" name="Text 5"/>
          <p:cNvSpPr/>
          <p:nvPr/>
        </p:nvSpPr>
        <p:spPr>
          <a:xfrm>
            <a:off x="6192782" y="2364780"/>
            <a:ext cx="5337438" cy="2675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6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MRR@10 Gain</a:t>
            </a:r>
            <a:endParaRPr lang="en-US" sz="1650" dirty="0"/>
          </a:p>
        </p:txBody>
      </p:sp>
      <p:sp>
        <p:nvSpPr>
          <p:cNvPr id="8" name="Text 6"/>
          <p:cNvSpPr/>
          <p:nvPr/>
        </p:nvSpPr>
        <p:spPr>
          <a:xfrm>
            <a:off x="6192782" y="2725440"/>
            <a:ext cx="5337438" cy="27394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27000"/>
              </a:lnSpc>
              <a:buNone/>
            </a:pPr>
            <a:r>
              <a:rPr lang="en-US" sz="13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0.05581 → 0.05814 with </a:t>
            </a:r>
            <a:r>
              <a:rPr lang="en-US" sz="1300" dirty="0">
                <a:solidFill>
                  <a:srgbClr val="3C3939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"python code:"</a:t>
            </a:r>
            <a:r>
              <a:rPr lang="en-US" sz="13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prefix</a:t>
            </a:r>
            <a:endParaRPr lang="en-US" sz="13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61475" y="3348633"/>
          <a:ext cx="9143771" cy="914400"/>
        </p:xfrm>
        <a:graphic>
          <a:graphicData uri="http://schemas.openxmlformats.org/drawingml/2006/table">
            <a:tbl>
              <a:tblPr/>
              <a:tblGrid>
                <a:gridCol w="174180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4180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74180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63241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b="1" dirty="0">
                          <a:solidFill>
                            <a:srgbClr val="3C3939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Representation</a:t>
                      </a:r>
                      <a:endParaRPr lang="en-US" sz="1300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</a:txBody>
                  <a:tcPr marL="171298" marR="171298" marT="6350" marB="6350" anchor="ctr">
                    <a:lnL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EFE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b="1" dirty="0">
                          <a:solidFill>
                            <a:srgbClr val="3C3939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NDCG@10</a:t>
                      </a:r>
                      <a:endParaRPr lang="en-US" sz="1300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</a:txBody>
                  <a:tcPr marL="171298" marR="171298" marT="6350" marB="6350" anchor="ctr">
                    <a:lnL w="12700" cap="flat" cmpd="sng" algn="ctr">
                      <a:solidFill>
                        <a:srgbClr val="FEFE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EFE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b="1" dirty="0">
                          <a:solidFill>
                            <a:srgbClr val="3C3939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MRR@10</a:t>
                      </a:r>
                      <a:endParaRPr lang="en-US" sz="1300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</a:txBody>
                  <a:tcPr marL="171298" marR="171298" marT="6350" marB="6350" anchor="ctr">
                    <a:lnL w="12700" cap="flat" cmpd="sng" algn="ctr">
                      <a:solidFill>
                        <a:srgbClr val="FEFE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2765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3C3939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Official MiniLM baseline</a:t>
                      </a:r>
                      <a:endParaRPr lang="en-US" sz="1300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</a:txBody>
                  <a:tcPr marL="171298" marR="171298" marT="6350" marB="6350" anchor="ctr">
                    <a:lnL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EFE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3C3939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0.06596</a:t>
                      </a:r>
                      <a:endParaRPr lang="en-US" sz="1300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</a:txBody>
                  <a:tcPr marL="171298" marR="171298" marT="6350" marB="6350" anchor="ctr">
                    <a:lnL w="12700" cap="flat" cmpd="sng" algn="ctr">
                      <a:solidFill>
                        <a:srgbClr val="FEFE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EFE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3C3939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0.05581</a:t>
                      </a:r>
                      <a:endParaRPr lang="en-US" sz="1300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</a:txBody>
                  <a:tcPr marL="171298" marR="171298" marT="6350" marB="6350" anchor="ctr">
                    <a:lnL w="12700" cap="flat" cmpd="sng" algn="ctr">
                      <a:solidFill>
                        <a:srgbClr val="FEFE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4035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3C3939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python code:</a:t>
                      </a:r>
                      <a:r>
                        <a:rPr lang="en-US" sz="1300" dirty="0">
                          <a:solidFill>
                            <a:srgbClr val="3C3939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 prefix </a:t>
                      </a:r>
                      <a:r>
                        <a:rPr lang="en-US" sz="1300" b="1" dirty="0">
                          <a:solidFill>
                            <a:srgbClr val="3C3939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✓ Selected</a:t>
                      </a:r>
                      <a:endParaRPr lang="en-US" sz="13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171298" marR="171298" marT="6350" marB="6350" anchor="ctr">
                    <a:lnL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EFE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b="1" dirty="0">
                          <a:solidFill>
                            <a:srgbClr val="3C3939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0.06922</a:t>
                      </a:r>
                      <a:endParaRPr lang="en-US" sz="1300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</a:txBody>
                  <a:tcPr marL="171298" marR="171298" marT="6350" marB="6350" anchor="ctr">
                    <a:lnL w="12700" cap="flat" cmpd="sng" algn="ctr">
                      <a:solidFill>
                        <a:srgbClr val="FEFE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EFE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b="1" dirty="0">
                          <a:solidFill>
                            <a:srgbClr val="3C3939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0.05814</a:t>
                      </a:r>
                      <a:endParaRPr lang="en-US" sz="1300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</a:txBody>
                  <a:tcPr marL="171298" marR="171298" marT="6350" marB="6350" anchor="ctr">
                    <a:lnL w="12700" cap="flat" cmpd="sng" algn="ctr">
                      <a:solidFill>
                        <a:srgbClr val="FEFE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2447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3C3939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[LANGUAGE] + [CODE] sections</a:t>
                      </a:r>
                      <a:endParaRPr lang="en-US" sz="1300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</a:txBody>
                  <a:tcPr marL="171298" marR="171298" marT="6350" marB="6350" anchor="ctr">
                    <a:lnL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EFE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3C3939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0.06917</a:t>
                      </a:r>
                      <a:endParaRPr lang="en-US" sz="1300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</a:txBody>
                  <a:tcPr marL="171298" marR="171298" marT="6350" marB="6350" anchor="ctr">
                    <a:lnL w="12700" cap="flat" cmpd="sng" algn="ctr">
                      <a:solidFill>
                        <a:srgbClr val="FEFE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EFE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3C3939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0.05770</a:t>
                      </a:r>
                      <a:endParaRPr lang="en-US" sz="1300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</a:txBody>
                  <a:tcPr marL="171298" marR="171298" marT="6350" marB="6350" anchor="ctr">
                    <a:lnL w="12700" cap="flat" cmpd="sng" algn="ctr">
                      <a:solidFill>
                        <a:srgbClr val="FEFE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0" name="Text 7"/>
          <p:cNvSpPr/>
          <p:nvPr/>
        </p:nvSpPr>
        <p:spPr>
          <a:xfrm>
            <a:off x="6311147" y="3329186"/>
            <a:ext cx="5225423" cy="2675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5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Methodological Note</a:t>
            </a:r>
            <a:endParaRPr lang="en-US" sz="1650" dirty="0"/>
          </a:p>
        </p:txBody>
      </p:sp>
      <p:sp>
        <p:nvSpPr>
          <p:cNvPr id="11" name="Text 8"/>
          <p:cNvSpPr/>
          <p:nvPr/>
        </p:nvSpPr>
        <p:spPr>
          <a:xfrm>
            <a:off x="6311147" y="3751957"/>
            <a:ext cx="5225423" cy="10449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13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These are exploratory test-set measurements. AppsRetrieval provides no train/dev relevance split, so results reflect test-set performance only and should not be interpreted as generalization estimates.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571886" cy="6858000"/>
          </a:xfrm>
          <a:prstGeom prst="rect">
            <a:avLst/>
          </a:prstGeom>
          <a:solidFill>
            <a:srgbClr val="E1E1EA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864" y="471488"/>
            <a:ext cx="4436158" cy="5915025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233360" y="604738"/>
            <a:ext cx="6296860" cy="4244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65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MTEB AppsRetrieval Evaluation</a:t>
            </a:r>
            <a:endParaRPr lang="en-US" sz="2650" dirty="0"/>
          </a:p>
        </p:txBody>
      </p:sp>
      <p:sp>
        <p:nvSpPr>
          <p:cNvPr id="5" name="Shape 2"/>
          <p:cNvSpPr/>
          <p:nvPr/>
        </p:nvSpPr>
        <p:spPr>
          <a:xfrm>
            <a:off x="5233360" y="1175643"/>
            <a:ext cx="6296860" cy="741958"/>
          </a:xfrm>
          <a:prstGeom prst="roundRect">
            <a:avLst>
              <a:gd name="adj" fmla="val 7690"/>
            </a:avLst>
          </a:prstGeom>
          <a:solidFill>
            <a:srgbClr val="E1E1EA"/>
          </a:solidFill>
          <a:ln w="6350">
            <a:solidFill>
              <a:srgbClr val="C7C7D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Text 3"/>
          <p:cNvSpPr/>
          <p:nvPr/>
        </p:nvSpPr>
        <p:spPr>
          <a:xfrm>
            <a:off x="5375537" y="1317823"/>
            <a:ext cx="6012506" cy="2123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Corpus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5375537" y="1588691"/>
            <a:ext cx="6012506" cy="1867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050" b="1" dirty="0">
                <a:solidFill>
                  <a:srgbClr val="3C3939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8,765</a:t>
            </a:r>
            <a:r>
              <a:rPr lang="en-US" sz="10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Python code snippets</a:t>
            </a:r>
            <a:endParaRPr lang="en-US" sz="1050" dirty="0"/>
          </a:p>
        </p:txBody>
      </p:sp>
      <p:sp>
        <p:nvSpPr>
          <p:cNvPr id="8" name="Shape 5"/>
          <p:cNvSpPr/>
          <p:nvPr/>
        </p:nvSpPr>
        <p:spPr>
          <a:xfrm>
            <a:off x="5233360" y="2015232"/>
            <a:ext cx="6296860" cy="741958"/>
          </a:xfrm>
          <a:prstGeom prst="roundRect">
            <a:avLst>
              <a:gd name="adj" fmla="val 7690"/>
            </a:avLst>
          </a:prstGeom>
          <a:solidFill>
            <a:srgbClr val="E1E1EA"/>
          </a:solidFill>
          <a:ln w="6350">
            <a:solidFill>
              <a:srgbClr val="C7C7D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Text 6"/>
          <p:cNvSpPr/>
          <p:nvPr/>
        </p:nvSpPr>
        <p:spPr>
          <a:xfrm>
            <a:off x="5375537" y="2157413"/>
            <a:ext cx="6012506" cy="2123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Queries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5375537" y="2428280"/>
            <a:ext cx="6012506" cy="1867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050" b="1" dirty="0">
                <a:solidFill>
                  <a:srgbClr val="3C3939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3,765</a:t>
            </a:r>
            <a:r>
              <a:rPr lang="en-US" sz="10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natural-language programming questions</a:t>
            </a:r>
            <a:endParaRPr lang="en-US" sz="1050" dirty="0"/>
          </a:p>
        </p:txBody>
      </p:sp>
      <p:sp>
        <p:nvSpPr>
          <p:cNvPr id="11" name="Shape 8"/>
          <p:cNvSpPr/>
          <p:nvPr/>
        </p:nvSpPr>
        <p:spPr>
          <a:xfrm>
            <a:off x="5233360" y="2854821"/>
            <a:ext cx="6296860" cy="741958"/>
          </a:xfrm>
          <a:prstGeom prst="roundRect">
            <a:avLst>
              <a:gd name="adj" fmla="val 7690"/>
            </a:avLst>
          </a:prstGeom>
          <a:solidFill>
            <a:srgbClr val="E1E1EA"/>
          </a:solidFill>
          <a:ln w="6350">
            <a:solidFill>
              <a:srgbClr val="C7C7D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" name="Text 9"/>
          <p:cNvSpPr/>
          <p:nvPr/>
        </p:nvSpPr>
        <p:spPr>
          <a:xfrm>
            <a:off x="5375537" y="2997002"/>
            <a:ext cx="6012506" cy="2123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Final NDCG@10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5375537" y="3267869"/>
            <a:ext cx="6012506" cy="1867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050" b="1" dirty="0">
                <a:solidFill>
                  <a:srgbClr val="3C3939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0.06922</a:t>
            </a:r>
            <a:endParaRPr lang="en-US" sz="1050" dirty="0"/>
          </a:p>
        </p:txBody>
      </p:sp>
      <p:sp>
        <p:nvSpPr>
          <p:cNvPr id="14" name="Shape 11"/>
          <p:cNvSpPr/>
          <p:nvPr/>
        </p:nvSpPr>
        <p:spPr>
          <a:xfrm>
            <a:off x="5233360" y="3694410"/>
            <a:ext cx="6296860" cy="741958"/>
          </a:xfrm>
          <a:prstGeom prst="roundRect">
            <a:avLst>
              <a:gd name="adj" fmla="val 7690"/>
            </a:avLst>
          </a:prstGeom>
          <a:solidFill>
            <a:srgbClr val="E1E1EA"/>
          </a:solidFill>
          <a:ln w="6350">
            <a:solidFill>
              <a:srgbClr val="C7C7D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5" name="Text 12"/>
          <p:cNvSpPr/>
          <p:nvPr/>
        </p:nvSpPr>
        <p:spPr>
          <a:xfrm>
            <a:off x="5375537" y="3836591"/>
            <a:ext cx="6012506" cy="2123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Final MRR@10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5375537" y="4107458"/>
            <a:ext cx="6012506" cy="1867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050" b="1" dirty="0">
                <a:solidFill>
                  <a:srgbClr val="3C3939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0.05814</a:t>
            </a:r>
            <a:endParaRPr lang="en-US" sz="1050" dirty="0"/>
          </a:p>
        </p:txBody>
      </p:sp>
      <p:sp>
        <p:nvSpPr>
          <p:cNvPr id="17" name="Text 14"/>
          <p:cNvSpPr/>
          <p:nvPr/>
        </p:nvSpPr>
        <p:spPr>
          <a:xfrm>
            <a:off x="5233360" y="4643834"/>
            <a:ext cx="2982739" cy="2123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Execution Profile</a:t>
            </a:r>
            <a:endParaRPr lang="en-US" sz="1300" dirty="0"/>
          </a:p>
        </p:txBody>
      </p:sp>
      <p:sp>
        <p:nvSpPr>
          <p:cNvPr id="18" name="Text 15"/>
          <p:cNvSpPr/>
          <p:nvPr/>
        </p:nvSpPr>
        <p:spPr>
          <a:xfrm>
            <a:off x="5233360" y="4953794"/>
            <a:ext cx="2982739" cy="112196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5000"/>
              </a:lnSpc>
              <a:spcAft>
                <a:spcPts val="650"/>
              </a:spcAft>
              <a:buNone/>
            </a:pPr>
            <a:r>
              <a:rPr lang="en-US" sz="10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CPU-only · ~260s MTEB task time · ~1.46 GB peak memory</a:t>
            </a:r>
            <a:endParaRPr lang="en-US" sz="1050" dirty="0"/>
          </a:p>
          <a:p>
            <a:pPr marL="0" indent="0" algn="l">
              <a:lnSpc>
                <a:spcPct val="115000"/>
              </a:lnSpc>
              <a:spcAft>
                <a:spcPts val="650"/>
              </a:spcAft>
              <a:buNone/>
            </a:pPr>
            <a:r>
              <a:rPr lang="en-US" sz="10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Model: </a:t>
            </a:r>
            <a:r>
              <a:rPr lang="en-US" sz="1050" dirty="0">
                <a:solidFill>
                  <a:srgbClr val="3C3939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sentence-transformers/all-MiniLM-L6-v2</a:t>
            </a:r>
            <a:endParaRPr lang="en-US" sz="1050" dirty="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10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Revision: </a:t>
            </a:r>
            <a:r>
              <a:rPr lang="en-US" sz="1050" dirty="0">
                <a:solidFill>
                  <a:srgbClr val="3C3939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1110a243fdf4706b3f48f1d95db1a4f5529b4d41</a:t>
            </a:r>
            <a:endParaRPr lang="en-US" sz="1050" dirty="0"/>
          </a:p>
        </p:txBody>
      </p:sp>
      <p:sp>
        <p:nvSpPr>
          <p:cNvPr id="19" name="Text 16"/>
          <p:cNvSpPr/>
          <p:nvPr/>
        </p:nvSpPr>
        <p:spPr>
          <a:xfrm>
            <a:off x="8553831" y="4643834"/>
            <a:ext cx="2982739" cy="2123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Submission Artifact</a:t>
            </a:r>
            <a:endParaRPr lang="en-US" sz="1300" dirty="0"/>
          </a:p>
        </p:txBody>
      </p:sp>
      <p:sp>
        <p:nvSpPr>
          <p:cNvPr id="20" name="Text 17"/>
          <p:cNvSpPr/>
          <p:nvPr/>
        </p:nvSpPr>
        <p:spPr>
          <a:xfrm>
            <a:off x="8553831" y="4953794"/>
            <a:ext cx="2982739" cy="37345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0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Ranked top-10 document IDs for all 3,765 queries:</a:t>
            </a:r>
            <a:endParaRPr lang="en-US" sz="1050" dirty="0"/>
          </a:p>
        </p:txBody>
      </p:sp>
      <p:sp>
        <p:nvSpPr>
          <p:cNvPr id="21" name="Shape 18"/>
          <p:cNvSpPr/>
          <p:nvPr/>
        </p:nvSpPr>
        <p:spPr>
          <a:xfrm>
            <a:off x="8553831" y="5437088"/>
            <a:ext cx="2982739" cy="706239"/>
          </a:xfrm>
          <a:prstGeom prst="roundRect">
            <a:avLst>
              <a:gd name="adj" fmla="val 8079"/>
            </a:avLst>
          </a:prstGeom>
          <a:solidFill>
            <a:srgbClr val="F2F2F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2" name="Text 19"/>
          <p:cNvSpPr/>
          <p:nvPr/>
        </p:nvSpPr>
        <p:spPr>
          <a:xfrm>
            <a:off x="8716844" y="5572919"/>
            <a:ext cx="2656714" cy="43457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05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artifacts/submission/</a:t>
            </a:r>
            <a:endParaRPr lang="en-US" sz="105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05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apps_retrieval_test_top10.json</a:t>
            </a:r>
            <a:endParaRPr lang="en-US" sz="10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34690"/>
            <a:ext cx="10868745" cy="4522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8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Live Semantic Code Retrieval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661475" y="1277739"/>
            <a:ext cx="5818935" cy="4920853"/>
          </a:xfrm>
          <a:prstGeom prst="roundRect">
            <a:avLst>
              <a:gd name="adj" fmla="val 1235"/>
            </a:avLst>
          </a:prstGeom>
          <a:solidFill>
            <a:srgbClr val="F2F2F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835103" y="1422400"/>
            <a:ext cx="5471678" cy="463153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python retrieve.py \</a:t>
            </a:r>
            <a:endParaRPr lang="en-US" sz="110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--query "Use breadth-first search to find</a:t>
            </a:r>
            <a:endParaRPr lang="en-US" sz="110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shortest path distances in an</a:t>
            </a:r>
            <a:endParaRPr lang="en-US" sz="110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unweighted graph"</a:t>
            </a:r>
            <a:endParaRPr lang="en-US" sz="1100" dirty="0"/>
          </a:p>
          <a:p>
            <a:pPr marL="0" indent="0" algn="l">
              <a:lnSpc>
                <a:spcPct val="133000"/>
              </a:lnSpc>
              <a:buNone/>
            </a:pPr>
            <a:endParaRPr lang="en-US" sz="110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Searching 8,765 snippets...</a:t>
            </a:r>
            <a:endParaRPr lang="en-US" sz="1100" dirty="0"/>
          </a:p>
          <a:p>
            <a:pPr marL="0" indent="0" algn="l">
              <a:lnSpc>
                <a:spcPct val="133000"/>
              </a:lnSpc>
              <a:buNone/>
            </a:pPr>
            <a:endParaRPr lang="en-US" sz="110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Rank 1 | Score: 0.7831</a:t>
            </a:r>
            <a:endParaRPr lang="en-US" sz="110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def bfs_shortest_path(graph, start):</a:t>
            </a:r>
            <a:endParaRPr lang="en-US" sz="110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distances = {start: 0}</a:t>
            </a:r>
            <a:endParaRPr lang="en-US" sz="110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queue = deque([start])</a:t>
            </a:r>
            <a:endParaRPr lang="en-US" sz="110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while queue:</a:t>
            </a:r>
            <a:endParaRPr lang="en-US" sz="110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node = queue.popleft()</a:t>
            </a:r>
            <a:endParaRPr lang="en-US" sz="110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...</a:t>
            </a:r>
            <a:endParaRPr lang="en-US" sz="1100" dirty="0"/>
          </a:p>
          <a:p>
            <a:pPr marL="0" indent="0" algn="l">
              <a:lnSpc>
                <a:spcPct val="133000"/>
              </a:lnSpc>
              <a:buNone/>
            </a:pPr>
            <a:endParaRPr lang="en-US" sz="110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Rank 2 | Score: 0.7214</a:t>
            </a:r>
            <a:endParaRPr lang="en-US" sz="110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def shortest_path_unweighted(adj, src):</a:t>
            </a:r>
            <a:endParaRPr lang="en-US" sz="110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...</a:t>
            </a:r>
            <a:endParaRPr lang="en-US" sz="1100" dirty="0"/>
          </a:p>
          <a:p>
            <a:pPr marL="0" indent="0" algn="l">
              <a:lnSpc>
                <a:spcPct val="133000"/>
              </a:lnSpc>
              <a:buNone/>
            </a:pPr>
            <a:endParaRPr lang="en-US" sz="110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Retrieval time: 0.38s (CPU)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6839771" y="1263848"/>
            <a:ext cx="4696700" cy="2260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Demo Query Categories</a:t>
            </a:r>
            <a:endParaRPr lang="en-US" sz="1400" dirty="0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894042" y="1618903"/>
            <a:ext cx="216986" cy="216991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309957" y="1614488"/>
            <a:ext cx="1808911" cy="2260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Graph Algorithms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7309957" y="1951236"/>
            <a:ext cx="1808911" cy="4087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11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BFS / DFS shortest path traversal</a:t>
            </a:r>
            <a:endParaRPr lang="en-US" sz="1100" dirty="0"/>
          </a:p>
        </p:txBody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311546" y="1618903"/>
            <a:ext cx="216986" cy="216991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9727461" y="1614488"/>
            <a:ext cx="1809010" cy="2260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Input Preprocessing</a:t>
            </a:r>
            <a:endParaRPr lang="en-US" sz="1400" dirty="0"/>
          </a:p>
        </p:txBody>
      </p:sp>
      <p:sp>
        <p:nvSpPr>
          <p:cNvPr id="11" name="Text 7"/>
          <p:cNvSpPr/>
          <p:nvPr/>
        </p:nvSpPr>
        <p:spPr>
          <a:xfrm>
            <a:off x="9727461" y="1951236"/>
            <a:ext cx="1809010" cy="6131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11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Query how data is structured before main functions</a:t>
            </a:r>
            <a:endParaRPr lang="en-US" sz="1100" dirty="0"/>
          </a:p>
        </p:txBody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894042" y="2790379"/>
            <a:ext cx="216986" cy="216991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7309957" y="2785963"/>
            <a:ext cx="4226514" cy="2260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Data Structures</a:t>
            </a:r>
            <a:endParaRPr lang="en-US" sz="1400" dirty="0"/>
          </a:p>
        </p:txBody>
      </p:sp>
      <p:sp>
        <p:nvSpPr>
          <p:cNvPr id="14" name="Text 9"/>
          <p:cNvSpPr/>
          <p:nvPr/>
        </p:nvSpPr>
        <p:spPr>
          <a:xfrm>
            <a:off x="7309957" y="3122712"/>
            <a:ext cx="4226514" cy="2043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11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Stack, queue, and tree operations</a:t>
            </a:r>
            <a:endParaRPr lang="en-US" sz="1100" dirty="0"/>
          </a:p>
        </p:txBody>
      </p:sp>
      <p:sp>
        <p:nvSpPr>
          <p:cNvPr id="15" name="Text 10"/>
          <p:cNvSpPr/>
          <p:nvPr/>
        </p:nvSpPr>
        <p:spPr>
          <a:xfrm>
            <a:off x="6839771" y="3451721"/>
            <a:ext cx="5306284" cy="2043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11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Output: top-K results with code preview and similarity score per query.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571886" cy="6858000"/>
          </a:xfrm>
          <a:prstGeom prst="rect">
            <a:avLst/>
          </a:prstGeom>
          <a:solidFill>
            <a:srgbClr val="E1E1EA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182" y="485279"/>
            <a:ext cx="4415422" cy="588744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233360" y="563563"/>
            <a:ext cx="6296860" cy="4891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05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Key Takeaways</a:t>
            </a:r>
            <a:endParaRPr lang="en-US" sz="3050" dirty="0"/>
          </a:p>
        </p:txBody>
      </p:sp>
      <p:sp>
        <p:nvSpPr>
          <p:cNvPr id="5" name="Shape 2"/>
          <p:cNvSpPr/>
          <p:nvPr/>
        </p:nvSpPr>
        <p:spPr>
          <a:xfrm>
            <a:off x="5233360" y="1247080"/>
            <a:ext cx="352119" cy="352127"/>
          </a:xfrm>
          <a:prstGeom prst="roundRect">
            <a:avLst>
              <a:gd name="adj" fmla="val 18671"/>
            </a:avLst>
          </a:prstGeom>
          <a:solidFill>
            <a:srgbClr val="E1E1EA"/>
          </a:solidFill>
          <a:ln w="6350">
            <a:solidFill>
              <a:srgbClr val="C7C7D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Text 3"/>
          <p:cNvSpPr/>
          <p:nvPr/>
        </p:nvSpPr>
        <p:spPr>
          <a:xfrm>
            <a:off x="5291997" y="1276350"/>
            <a:ext cx="234746" cy="29348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8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</a:t>
            </a:r>
            <a:endParaRPr lang="en-US" sz="1800" dirty="0"/>
          </a:p>
        </p:txBody>
      </p:sp>
      <p:sp>
        <p:nvSpPr>
          <p:cNvPr id="7" name="Text 4"/>
          <p:cNvSpPr/>
          <p:nvPr/>
        </p:nvSpPr>
        <p:spPr>
          <a:xfrm>
            <a:off x="5715055" y="1300857"/>
            <a:ext cx="5815165" cy="2445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Semantic retrieval without LLM ranking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5715055" y="1623120"/>
            <a:ext cx="5815165" cy="45779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2000"/>
              </a:lnSpc>
              <a:buNone/>
            </a:pPr>
            <a:r>
              <a:rPr lang="en-US" sz="12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Natural-language queries retrieve relevant code via dense embeddings — no large model inference at query time.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5233360" y="2340173"/>
            <a:ext cx="352119" cy="352127"/>
          </a:xfrm>
          <a:prstGeom prst="roundRect">
            <a:avLst>
              <a:gd name="adj" fmla="val 18671"/>
            </a:avLst>
          </a:prstGeom>
          <a:solidFill>
            <a:srgbClr val="E1E1EA"/>
          </a:solidFill>
          <a:ln w="6350">
            <a:solidFill>
              <a:srgbClr val="C7C7D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Text 7"/>
          <p:cNvSpPr/>
          <p:nvPr/>
        </p:nvSpPr>
        <p:spPr>
          <a:xfrm>
            <a:off x="5291997" y="2369443"/>
            <a:ext cx="234746" cy="29348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8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2</a:t>
            </a:r>
            <a:endParaRPr lang="en-US" sz="1800" dirty="0"/>
          </a:p>
        </p:txBody>
      </p:sp>
      <p:sp>
        <p:nvSpPr>
          <p:cNvPr id="11" name="Text 8"/>
          <p:cNvSpPr/>
          <p:nvPr/>
        </p:nvSpPr>
        <p:spPr>
          <a:xfrm>
            <a:off x="5715055" y="2393950"/>
            <a:ext cx="5815165" cy="2445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CPU-friendly and scalable</a:t>
            </a:r>
            <a:endParaRPr lang="en-US" sz="1500" dirty="0"/>
          </a:p>
        </p:txBody>
      </p:sp>
      <p:sp>
        <p:nvSpPr>
          <p:cNvPr id="12" name="Text 9"/>
          <p:cNvSpPr/>
          <p:nvPr/>
        </p:nvSpPr>
        <p:spPr>
          <a:xfrm>
            <a:off x="5715055" y="2716213"/>
            <a:ext cx="5815165" cy="45779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2000"/>
              </a:lnSpc>
              <a:buNone/>
            </a:pPr>
            <a:r>
              <a:rPr lang="en-US" sz="12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Embedding pipeline handles 8,765 snippets at ~1.46 GB peak memory; no GPU required.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5233360" y="3433266"/>
            <a:ext cx="352119" cy="352127"/>
          </a:xfrm>
          <a:prstGeom prst="roundRect">
            <a:avLst>
              <a:gd name="adj" fmla="val 18671"/>
            </a:avLst>
          </a:prstGeom>
          <a:solidFill>
            <a:srgbClr val="E1E1EA"/>
          </a:solidFill>
          <a:ln w="6350">
            <a:solidFill>
              <a:srgbClr val="C7C7D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4" name="Text 11"/>
          <p:cNvSpPr/>
          <p:nvPr/>
        </p:nvSpPr>
        <p:spPr>
          <a:xfrm>
            <a:off x="5291997" y="3462536"/>
            <a:ext cx="234746" cy="29348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8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3</a:t>
            </a:r>
            <a:endParaRPr lang="en-US" sz="1800" dirty="0"/>
          </a:p>
        </p:txBody>
      </p:sp>
      <p:sp>
        <p:nvSpPr>
          <p:cNvPr id="15" name="Text 12"/>
          <p:cNvSpPr/>
          <p:nvPr/>
        </p:nvSpPr>
        <p:spPr>
          <a:xfrm>
            <a:off x="5715055" y="3487043"/>
            <a:ext cx="5815165" cy="2445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Representation matters</a:t>
            </a:r>
            <a:endParaRPr lang="en-US" sz="1500" dirty="0"/>
          </a:p>
        </p:txBody>
      </p:sp>
      <p:sp>
        <p:nvSpPr>
          <p:cNvPr id="16" name="Text 13"/>
          <p:cNvSpPr/>
          <p:nvPr/>
        </p:nvSpPr>
        <p:spPr>
          <a:xfrm>
            <a:off x="5715055" y="3809305"/>
            <a:ext cx="5815165" cy="45779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2000"/>
              </a:lnSpc>
              <a:buNone/>
            </a:pPr>
            <a:r>
              <a:rPr lang="en-US" sz="12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Five retrieval strategies and multiple text representations were rigorously compared on the MTEB AppsRetrieval benchmark.</a:t>
            </a:r>
            <a:endParaRPr lang="en-US" sz="1200" dirty="0"/>
          </a:p>
        </p:txBody>
      </p:sp>
      <p:sp>
        <p:nvSpPr>
          <p:cNvPr id="17" name="Shape 14"/>
          <p:cNvSpPr/>
          <p:nvPr/>
        </p:nvSpPr>
        <p:spPr>
          <a:xfrm>
            <a:off x="5233360" y="4526359"/>
            <a:ext cx="352119" cy="352127"/>
          </a:xfrm>
          <a:prstGeom prst="roundRect">
            <a:avLst>
              <a:gd name="adj" fmla="val 18671"/>
            </a:avLst>
          </a:prstGeom>
          <a:solidFill>
            <a:srgbClr val="E1E1EA"/>
          </a:solidFill>
          <a:ln w="6350">
            <a:solidFill>
              <a:srgbClr val="C7C7D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8" name="Text 15"/>
          <p:cNvSpPr/>
          <p:nvPr/>
        </p:nvSpPr>
        <p:spPr>
          <a:xfrm>
            <a:off x="5291997" y="4555629"/>
            <a:ext cx="234746" cy="29348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8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4</a:t>
            </a:r>
            <a:endParaRPr lang="en-US" sz="1800" dirty="0"/>
          </a:p>
        </p:txBody>
      </p:sp>
      <p:sp>
        <p:nvSpPr>
          <p:cNvPr id="19" name="Text 16"/>
          <p:cNvSpPr/>
          <p:nvPr/>
        </p:nvSpPr>
        <p:spPr>
          <a:xfrm>
            <a:off x="5715055" y="4580136"/>
            <a:ext cx="5815165" cy="2445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Reproducible predictions</a:t>
            </a:r>
            <a:endParaRPr lang="en-US" sz="1500" dirty="0"/>
          </a:p>
        </p:txBody>
      </p:sp>
      <p:sp>
        <p:nvSpPr>
          <p:cNvPr id="20" name="Text 17"/>
          <p:cNvSpPr/>
          <p:nvPr/>
        </p:nvSpPr>
        <p:spPr>
          <a:xfrm>
            <a:off x="5715055" y="4902398"/>
            <a:ext cx="5815165" cy="46414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2000"/>
              </a:lnSpc>
              <a:buNone/>
            </a:pPr>
            <a:r>
              <a:rPr lang="en-US" sz="12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Deterministic pipeline produces stable MTEB AppsRetrieval submissions via </a:t>
            </a:r>
            <a:r>
              <a:rPr lang="en-US" sz="1200" dirty="0">
                <a:solidFill>
                  <a:srgbClr val="3C3939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apps_retrieval_test_top10.json</a:t>
            </a:r>
            <a:r>
              <a:rPr lang="en-US" sz="12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.</a:t>
            </a:r>
            <a:endParaRPr lang="en-US" sz="1200" dirty="0"/>
          </a:p>
        </p:txBody>
      </p:sp>
      <p:sp>
        <p:nvSpPr>
          <p:cNvPr id="21" name="Shape 18"/>
          <p:cNvSpPr/>
          <p:nvPr/>
        </p:nvSpPr>
        <p:spPr>
          <a:xfrm>
            <a:off x="5233360" y="5512296"/>
            <a:ext cx="6296860" cy="782141"/>
          </a:xfrm>
          <a:prstGeom prst="roundRect">
            <a:avLst>
              <a:gd name="adj" fmla="val 8406"/>
            </a:avLst>
          </a:prstGeom>
          <a:solidFill>
            <a:srgbClr val="E1E1EA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2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89825" y="5696446"/>
            <a:ext cx="195654" cy="156468"/>
          </a:xfrm>
          <a:prstGeom prst="rect">
            <a:avLst/>
          </a:prstGeom>
        </p:spPr>
      </p:pic>
      <p:sp>
        <p:nvSpPr>
          <p:cNvPr id="23" name="Text 19"/>
          <p:cNvSpPr/>
          <p:nvPr/>
        </p:nvSpPr>
        <p:spPr>
          <a:xfrm>
            <a:off x="5741943" y="5680968"/>
            <a:ext cx="5631813" cy="45779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2000"/>
              </a:lnSpc>
              <a:buNone/>
            </a:pPr>
            <a:r>
              <a:rPr lang="en-US" sz="1200" b="1" dirty="0">
                <a:solidFill>
                  <a:srgbClr val="000000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Future work:</a:t>
            </a:r>
            <a:r>
              <a:rPr lang="en-US" sz="120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Version-aware retrieval · multi-pass retrieval · stronger code-aware representations · learned reranking with labeled data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</TotalTime>
  <Words>708</Words>
  <Application>Microsoft Office PowerPoint</Application>
  <PresentationFormat>Widescreen</PresentationFormat>
  <Paragraphs>129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5" baseType="lpstr">
      <vt:lpstr>Arial</vt:lpstr>
      <vt:lpstr>Roboto</vt:lpstr>
      <vt:lpstr>Consolas</vt:lpstr>
      <vt:lpstr>Raleway</vt:lpstr>
      <vt:lpstr>Roboto Bold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>KISHAN KUMAR SINGH</cp:lastModifiedBy>
  <cp:revision>3</cp:revision>
  <dcterms:created xsi:type="dcterms:W3CDTF">2026-09-30T17:28:25Z</dcterms:created>
  <dcterms:modified xsi:type="dcterms:W3CDTF">2026-09-30T17:53:44Z</dcterms:modified>
</cp:coreProperties>
</file>